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8" r:id="rId4"/>
    <p:sldId id="258" r:id="rId5"/>
    <p:sldId id="259" r:id="rId6"/>
    <p:sldId id="270" r:id="rId7"/>
    <p:sldId id="271" r:id="rId8"/>
    <p:sldId id="260" r:id="rId9"/>
    <p:sldId id="269" r:id="rId10"/>
    <p:sldId id="264" r:id="rId11"/>
  </p:sldIdLst>
  <p:sldSz cx="9753600" cy="7315200"/>
  <p:notesSz cx="9753600" cy="7315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gTxnPD+aw2LrBypMl/CD7XQzvf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550" y="53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25925" y="548625"/>
            <a:ext cx="6502725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572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4040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9ac01966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9ac019662_0_1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3000" cy="32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ubTitle" idx="1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/>
          <p:nvPr/>
        </p:nvSpPr>
        <p:spPr>
          <a:xfrm>
            <a:off x="0" y="0"/>
            <a:ext cx="9752965" cy="894080"/>
          </a:xfrm>
          <a:custGeom>
            <a:avLst/>
            <a:gdLst/>
            <a:ahLst/>
            <a:cxnLst/>
            <a:rect l="l" t="t" r="r" b="b"/>
            <a:pathLst>
              <a:path w="9752965" h="894080" extrusionOk="0">
                <a:moveTo>
                  <a:pt x="9752456" y="893567"/>
                </a:moveTo>
                <a:lnTo>
                  <a:pt x="0" y="893567"/>
                </a:lnTo>
                <a:lnTo>
                  <a:pt x="0" y="0"/>
                </a:lnTo>
                <a:lnTo>
                  <a:pt x="9752456" y="0"/>
                </a:lnTo>
                <a:lnTo>
                  <a:pt x="9752456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0" y="7151615"/>
            <a:ext cx="9753600" cy="163830"/>
          </a:xfrm>
          <a:custGeom>
            <a:avLst/>
            <a:gdLst/>
            <a:ahLst/>
            <a:cxnLst/>
            <a:rect l="l" t="t" r="r" b="b"/>
            <a:pathLst>
              <a:path w="9753600" h="163829" extrusionOk="0">
                <a:moveTo>
                  <a:pt x="9753218" y="163584"/>
                </a:moveTo>
                <a:lnTo>
                  <a:pt x="0" y="163584"/>
                </a:lnTo>
                <a:lnTo>
                  <a:pt x="0" y="0"/>
                </a:lnTo>
                <a:lnTo>
                  <a:pt x="9753218" y="0"/>
                </a:lnTo>
                <a:lnTo>
                  <a:pt x="9753218" y="16358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Google Shape;8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8"/>
          <p:cNvSpPr/>
          <p:nvPr/>
        </p:nvSpPr>
        <p:spPr>
          <a:xfrm>
            <a:off x="6556416" y="0"/>
            <a:ext cx="3197860" cy="894080"/>
          </a:xfrm>
          <a:custGeom>
            <a:avLst/>
            <a:gdLst/>
            <a:ahLst/>
            <a:cxnLst/>
            <a:rect l="l" t="t" r="r" b="b"/>
            <a:pathLst>
              <a:path w="3197859" h="894080" extrusionOk="0">
                <a:moveTo>
                  <a:pt x="3197297" y="893567"/>
                </a:moveTo>
                <a:lnTo>
                  <a:pt x="0" y="893567"/>
                </a:lnTo>
                <a:lnTo>
                  <a:pt x="0" y="0"/>
                </a:lnTo>
                <a:lnTo>
                  <a:pt x="3197297" y="0"/>
                </a:lnTo>
                <a:lnTo>
                  <a:pt x="3197297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8"/>
          <p:cNvSpPr/>
          <p:nvPr/>
        </p:nvSpPr>
        <p:spPr>
          <a:xfrm>
            <a:off x="6963071" y="203136"/>
            <a:ext cx="2213610" cy="731520"/>
          </a:xfrm>
          <a:custGeom>
            <a:avLst/>
            <a:gdLst/>
            <a:ahLst/>
            <a:cxnLst/>
            <a:rect l="l" t="t" r="r" b="b"/>
            <a:pathLst>
              <a:path w="2213609" h="731519" extrusionOk="0">
                <a:moveTo>
                  <a:pt x="2213399" y="731135"/>
                </a:moveTo>
                <a:lnTo>
                  <a:pt x="0" y="731135"/>
                </a:lnTo>
                <a:lnTo>
                  <a:pt x="0" y="0"/>
                </a:lnTo>
                <a:lnTo>
                  <a:pt x="2213399" y="0"/>
                </a:lnTo>
                <a:lnTo>
                  <a:pt x="2213399" y="7311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14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/>
        </p:nvSpPr>
        <p:spPr>
          <a:xfrm>
            <a:off x="267855" y="1152575"/>
            <a:ext cx="9033163" cy="4013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 on 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Platform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19736"/>
              </a:lnSpc>
            </a:pPr>
            <a:endParaRPr lang="en-US" sz="32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4945" marR="2727325" lvl="0" indent="0" algn="ctr" rtl="0">
              <a:lnSpc>
                <a:spcPct val="101200"/>
              </a:lnSpc>
              <a:spcBef>
                <a:spcPts val="5"/>
              </a:spcBef>
              <a:spcAft>
                <a:spcPts val="0"/>
              </a:spcAft>
              <a:buNone/>
            </a:pPr>
            <a:endParaRPr lang="en-IN"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4945" marR="2727325" lvl="0" indent="0" algn="ctr" rtl="0">
              <a:lnSpc>
                <a:spcPct val="101200"/>
              </a:lnSpc>
              <a:spcBef>
                <a:spcPts val="5"/>
              </a:spcBef>
              <a:spcAft>
                <a:spcPts val="0"/>
              </a:spcAft>
              <a:buNone/>
            </a:pPr>
            <a:endParaRPr lang="en-US" sz="21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734945" marR="2727325" lvl="0" indent="0" algn="ctr" rtl="0">
              <a:lnSpc>
                <a:spcPct val="1012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1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Supervised By </a:t>
            </a:r>
            <a:endParaRPr sz="21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734945" marR="2727325" lvl="0" algn="ctr">
              <a:lnSpc>
                <a:spcPct val="101200"/>
              </a:lnSpc>
              <a:spcBef>
                <a:spcPts val="5"/>
              </a:spcBef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Dr.Ajay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</a:t>
            </a:r>
            <a:endParaRPr sz="1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324927" y="5542364"/>
            <a:ext cx="7103745" cy="959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1631950" marR="5080" lvl="0" indent="-1619885" algn="just" rtl="0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dirty="0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Chitkara University, Punjab</a:t>
            </a:r>
            <a:endParaRPr sz="25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1010" y="3009672"/>
            <a:ext cx="799610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Mukund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(2210990587)      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Priyansh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(2210990684)</a:t>
            </a:r>
          </a:p>
          <a:p>
            <a:pPr algn="just">
              <a:defRPr sz="20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Paramveer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(2210990636)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Piyush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(2210992039)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>
            <a:spLocks noGrp="1"/>
          </p:cNvSpPr>
          <p:nvPr>
            <p:ph type="title"/>
          </p:nvPr>
        </p:nvSpPr>
        <p:spPr>
          <a:xfrm>
            <a:off x="-387625" y="109377"/>
            <a:ext cx="5889474" cy="506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Introduction</a:t>
            </a:r>
            <a:endParaRPr sz="3200" dirty="0"/>
          </a:p>
        </p:txBody>
      </p:sp>
      <p:sp>
        <p:nvSpPr>
          <p:cNvPr id="59" name="Google Shape;59;p2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321C17-34A8-7E7D-0F5E-17BE034A4FE6}"/>
              </a:ext>
            </a:extLst>
          </p:cNvPr>
          <p:cNvSpPr txBox="1"/>
          <p:nvPr/>
        </p:nvSpPr>
        <p:spPr>
          <a:xfrm>
            <a:off x="444500" y="1517650"/>
            <a:ext cx="874286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platforms like Facebook, Twitter, and WhatsApp have transformed how people consume news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this has led to a rapid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soread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fake news and misinformation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spreads 6–10 times faster than real news due to emotional and sensational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fact-checking is not scalable due to millions of daily posts.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and Natural Language Processing (NLP) provide automated solutions for detecting fake news.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678E9-AC64-C38C-6C8E-E3FC4CAFC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09" y="109377"/>
            <a:ext cx="5372640" cy="492443"/>
          </a:xfrm>
        </p:spPr>
        <p:txBody>
          <a:bodyPr/>
          <a:lstStyle/>
          <a:p>
            <a:r>
              <a:rPr lang="en-US" sz="3200" dirty="0"/>
              <a:t>Objective</a:t>
            </a:r>
            <a:endParaRPr lang="en-US" sz="36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B3CAB3E-6D9C-CE40-D62E-8F69241475A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8295" y="2071089"/>
            <a:ext cx="741459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58BC7-E6BF-747B-853B-67619E7E9606}"/>
              </a:ext>
            </a:extLst>
          </p:cNvPr>
          <p:cNvSpPr txBox="1"/>
          <p:nvPr/>
        </p:nvSpPr>
        <p:spPr>
          <a:xfrm>
            <a:off x="387350" y="1600200"/>
            <a:ext cx="88963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automated fake news detection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TF-IDF for feature extraction and Passive Aggressive Classifier (PAC) for classification.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high accuracy with low computational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proposed model with other classifiers like: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Naive Bayes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Logistic Regression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Linear SVM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interpretable insights into fake vs real news.</a:t>
            </a:r>
          </a:p>
        </p:txBody>
      </p:sp>
    </p:spTree>
    <p:extLst>
      <p:ext uri="{BB962C8B-B14F-4D97-AF65-F5344CB8AC3E}">
        <p14:creationId xmlns:p14="http://schemas.microsoft.com/office/powerpoint/2010/main" val="1889464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69573" y="-10601"/>
            <a:ext cx="5361155" cy="65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Problem Statement</a:t>
            </a:r>
            <a:endParaRPr sz="3200" dirty="0"/>
          </a:p>
        </p:txBody>
      </p:sp>
      <p:sp>
        <p:nvSpPr>
          <p:cNvPr id="66" name="Google Shape;66;p3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EBC627-19E8-79E5-0AE3-60F3ACF7DE90}"/>
              </a:ext>
            </a:extLst>
          </p:cNvPr>
          <p:cNvSpPr txBox="1"/>
          <p:nvPr/>
        </p:nvSpPr>
        <p:spPr>
          <a:xfrm>
            <a:off x="349250" y="1276351"/>
            <a:ext cx="832485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spreads rapidly and influences: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opinion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Elections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Health decisions (e.g., COVID misinformation)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verification is: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Time-consuming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Not scalable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Deep learning → High accuracy but expensive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Rule-based → Limited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system that is: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Accurate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Fast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Scalable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-834887" y="109377"/>
            <a:ext cx="6336735" cy="65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99631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Methodology</a:t>
            </a:r>
            <a:endParaRPr sz="3600" dirty="0"/>
          </a:p>
        </p:txBody>
      </p:sp>
      <p:sp>
        <p:nvSpPr>
          <p:cNvPr id="73" name="Google Shape;73;p4"/>
          <p:cNvSpPr txBox="1"/>
          <p:nvPr/>
        </p:nvSpPr>
        <p:spPr>
          <a:xfrm>
            <a:off x="232155" y="1353176"/>
            <a:ext cx="8766900" cy="5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95250" marR="8890" lvl="0" algn="just" rtl="0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SzPts val="2100"/>
            </a:pPr>
            <a:endParaRPr lang="en-US"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4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4BEFD-D9F7-342D-79FF-EFF9F785CCA7}"/>
              </a:ext>
            </a:extLst>
          </p:cNvPr>
          <p:cNvSpPr txBox="1"/>
          <p:nvPr/>
        </p:nvSpPr>
        <p:spPr>
          <a:xfrm>
            <a:off x="754545" y="1604556"/>
            <a:ext cx="8029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E03F6E-540F-1071-8C0A-6EC1B0E3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57" y="801065"/>
            <a:ext cx="8129383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Dataset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ISOT Fake News Dataset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~44,000 articles (Fake + Real)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 distribution (47% fake, 53% real)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Steps: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Lowercasing, removing URLs, punctuation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Tokenization &amp;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removal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Feature Extraction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TF-IDF (Term Frequency–Inverse Document Frequency)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Converts text into numerical vectors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Model Used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Passive Aggressive Classifier (PAC)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Online learning algorithm (updates continuously)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Evaluation Metrics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Accuracy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Precision	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Recall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F1-score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ROC-AUC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-834887" y="109377"/>
            <a:ext cx="6336735" cy="65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996314" lvl="0"/>
            <a:r>
              <a:rPr lang="en-US" sz="3200" dirty="0"/>
              <a:t>Class Distribution</a:t>
            </a:r>
            <a:endParaRPr sz="3200" dirty="0"/>
          </a:p>
        </p:txBody>
      </p:sp>
      <p:sp>
        <p:nvSpPr>
          <p:cNvPr id="73" name="Google Shape;73;p4"/>
          <p:cNvSpPr txBox="1"/>
          <p:nvPr/>
        </p:nvSpPr>
        <p:spPr>
          <a:xfrm>
            <a:off x="232155" y="1353176"/>
            <a:ext cx="8766900" cy="5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95250" marR="8890" lvl="0" algn="just" rtl="0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SzPts val="2100"/>
            </a:pPr>
            <a:endParaRPr lang="en-US"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4BEFD-D9F7-342D-79FF-EFF9F785CCA7}"/>
              </a:ext>
            </a:extLst>
          </p:cNvPr>
          <p:cNvSpPr txBox="1"/>
          <p:nvPr/>
        </p:nvSpPr>
        <p:spPr>
          <a:xfrm>
            <a:off x="754545" y="1604556"/>
            <a:ext cx="8029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5333F8-5E4C-2471-4F5D-F56FA1FC76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22"/>
          <a:stretch>
            <a:fillRect/>
          </a:stretch>
        </p:blipFill>
        <p:spPr>
          <a:xfrm>
            <a:off x="1660903" y="1814841"/>
            <a:ext cx="6431793" cy="389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586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-834887" y="109377"/>
            <a:ext cx="7328284" cy="65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996314" lvl="0"/>
            <a:r>
              <a:rPr lang="en-US" sz="3200" dirty="0"/>
              <a:t>Model comparison</a:t>
            </a:r>
            <a:endParaRPr sz="3200" dirty="0"/>
          </a:p>
        </p:txBody>
      </p:sp>
      <p:sp>
        <p:nvSpPr>
          <p:cNvPr id="73" name="Google Shape;73;p4"/>
          <p:cNvSpPr txBox="1"/>
          <p:nvPr/>
        </p:nvSpPr>
        <p:spPr>
          <a:xfrm>
            <a:off x="232155" y="1353176"/>
            <a:ext cx="8766900" cy="5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95250" marR="8890" lvl="0" algn="just" rtl="0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SzPts val="2100"/>
            </a:pPr>
            <a:endParaRPr lang="en-US"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4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4BEFD-D9F7-342D-79FF-EFF9F785CCA7}"/>
              </a:ext>
            </a:extLst>
          </p:cNvPr>
          <p:cNvSpPr txBox="1"/>
          <p:nvPr/>
        </p:nvSpPr>
        <p:spPr>
          <a:xfrm>
            <a:off x="754545" y="1604556"/>
            <a:ext cx="8029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06A455-63E4-84D2-42B1-9990203FF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" y="1353176"/>
            <a:ext cx="94202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860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9ac019662_0_1"/>
          <p:cNvSpPr txBox="1">
            <a:spLocks noGrp="1"/>
          </p:cNvSpPr>
          <p:nvPr>
            <p:ph type="title"/>
          </p:nvPr>
        </p:nvSpPr>
        <p:spPr>
          <a:xfrm>
            <a:off x="99392" y="181802"/>
            <a:ext cx="6156996" cy="49244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Results &amp; Discussion</a:t>
            </a:r>
            <a:endParaRPr sz="3200" dirty="0"/>
          </a:p>
        </p:txBody>
      </p:sp>
      <p:sp>
        <p:nvSpPr>
          <p:cNvPr id="80" name="Google Shape;80;g319ac019662_0_1"/>
          <p:cNvSpPr txBox="1">
            <a:spLocks noGrp="1"/>
          </p:cNvSpPr>
          <p:nvPr>
            <p:ph type="body" idx="1"/>
          </p:nvPr>
        </p:nvSpPr>
        <p:spPr>
          <a:xfrm flipH="1">
            <a:off x="9605818" y="7269481"/>
            <a:ext cx="1098332" cy="4571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00CB0-831F-F40B-4BE0-0B6E5E4B7E32}"/>
              </a:ext>
            </a:extLst>
          </p:cNvPr>
          <p:cNvSpPr txBox="1"/>
          <p:nvPr/>
        </p:nvSpPr>
        <p:spPr>
          <a:xfrm>
            <a:off x="190500" y="1085850"/>
            <a:ext cx="92583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(ISOT Dataset)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99.4% Accuracy, outperforming all baseline models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99.3% | Recall: 99.5% | F1-Score: 99.4%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results with 5-fold cross-validation (99.58% ± 0.03%)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Efficiency &amp; Scalability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Time: 31.6 seconds (CPU-based)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~2.7× faster than Linear SVM with higher accuracy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Speed: 0.17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/article (~5800 articles/sec)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real-time social media monitoring systems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 (Feature Insights)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Indicators: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Sensational &amp; emotional words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Examples: “breaking”, “shocking”, “exclusive”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News Indicators: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Attribution-based language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Examples: “said”, “according”, “official”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2F8F-47D9-0DC1-143F-DD694A2F8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43" y="109377"/>
            <a:ext cx="5084405" cy="492443"/>
          </a:xfrm>
        </p:spPr>
        <p:txBody>
          <a:bodyPr/>
          <a:lstStyle/>
          <a:p>
            <a:r>
              <a:rPr lang="en-US" sz="3200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A599E7-8D0B-AF58-9464-F8F756577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443" y="742821"/>
            <a:ext cx="715292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TF-IDF + PAC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is: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Highly accurate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Computationally efficient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Scalable for real-time use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Outperforms traditional models in: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Accuracy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Speed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ML models can outperform complex models when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optimized properly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improvements: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Multimodal detection (text + images + videos)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Cross-lingual support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Better handling of evolving fake news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858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>
            <a:spLocks noGrp="1"/>
          </p:cNvSpPr>
          <p:nvPr>
            <p:ph type="title"/>
          </p:nvPr>
        </p:nvSpPr>
        <p:spPr>
          <a:xfrm>
            <a:off x="3137882" y="2901732"/>
            <a:ext cx="3644900" cy="355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50"/>
              <a:t>Thank You</a:t>
            </a:r>
            <a:br>
              <a:rPr lang="en-US" sz="5750"/>
            </a:br>
            <a:br>
              <a:rPr lang="en-US" sz="5750"/>
            </a:br>
            <a:br>
              <a:rPr lang="en-US" sz="5750"/>
            </a:br>
            <a:endParaRPr sz="5750"/>
          </a:p>
        </p:txBody>
      </p:sp>
      <p:sp>
        <p:nvSpPr>
          <p:cNvPr id="106" name="Google Shape;106;p7"/>
          <p:cNvSpPr txBox="1"/>
          <p:nvPr/>
        </p:nvSpPr>
        <p:spPr>
          <a:xfrm>
            <a:off x="9074494" y="6801811"/>
            <a:ext cx="112395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25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yritsolution</Template>
  <TotalTime>92</TotalTime>
  <Words>555</Words>
  <Application>Microsoft Office PowerPoint</Application>
  <PresentationFormat>Custom</PresentationFormat>
  <Paragraphs>114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Trebuchet MS</vt:lpstr>
      <vt:lpstr>Wingdings</vt:lpstr>
      <vt:lpstr>Office Theme</vt:lpstr>
      <vt:lpstr>PowerPoint Presentation</vt:lpstr>
      <vt:lpstr>Introduction</vt:lpstr>
      <vt:lpstr>Objective</vt:lpstr>
      <vt:lpstr>Problem Statement</vt:lpstr>
      <vt:lpstr>Methodology</vt:lpstr>
      <vt:lpstr>Class Distribution</vt:lpstr>
      <vt:lpstr>Model comparison</vt:lpstr>
      <vt:lpstr>Results &amp; Discussion</vt:lpstr>
      <vt:lpstr>Conclusion</vt:lpstr>
      <vt:lpstr>Thank You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nakul JAIN</dc:creator>
  <cp:lastModifiedBy>Priyansh arora</cp:lastModifiedBy>
  <cp:revision>12</cp:revision>
  <dcterms:created xsi:type="dcterms:W3CDTF">2026-03-24T19:17:42Z</dcterms:created>
  <dcterms:modified xsi:type="dcterms:W3CDTF">2026-05-01T06:23:45Z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2024-08-03T00:00:00Z</vt:filetime>
  </property>
  <property fmtid="{D5CDD505-2E9C-101B-9397-08002B2CF9AE}" pid="3" name="Creator">
    <vt:lpwstr>Canva</vt:lpwstr>
  </property>
  <property fmtid="{D5CDD505-2E9C-101B-9397-08002B2CF9AE}" pid="4" name="LastSaved">
    <vt:filetime>2024-10-02T00:00:00Z</vt:filetime>
  </property>
  <property fmtid="{D5CDD505-2E9C-101B-9397-08002B2CF9AE}" pid="5" name="Producer">
    <vt:lpwstr>Canva</vt:lpwstr>
  </property>
</Properties>
</file>